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71" r:id="rId8"/>
    <p:sldId id="272" r:id="rId9"/>
    <p:sldId id="264" r:id="rId10"/>
    <p:sldId id="265" r:id="rId11"/>
    <p:sldId id="266" r:id="rId12"/>
    <p:sldId id="267" r:id="rId13"/>
    <p:sldId id="268" r:id="rId14"/>
    <p:sldId id="269" r:id="rId15"/>
    <p:sldId id="277" r:id="rId16"/>
    <p:sldId id="270" r:id="rId17"/>
    <p:sldId id="282" r:id="rId18"/>
    <p:sldId id="273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B79692-275F-5A17-C888-472858266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D1A94F-799E-1ED6-29B1-B19772110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72B482-2A84-666E-CA49-535C4244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684541-6B2A-0E77-8BE9-CB46B1FD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0543D5-0725-1AFC-3461-A1CCDBF3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83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8C928F-19AC-AD09-51A9-2D559B9F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098265-5110-522C-1F59-2640A721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37CB7B-818A-143A-2A22-CDE0D9DE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9811A3-BD97-8DFD-B47B-68E8F16C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AD9304-5F89-238A-301D-99875463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05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072FF1-6A2A-6030-25F4-D0376E25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83C49C-0AD8-CE39-7E07-493033AA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43365A-9C7D-38D7-6609-8C17FB1E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630D87-4FC4-A05C-6C4F-B2DC1CED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0BD89D-C019-22B7-4AC7-0863FF17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35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73B28-495D-289D-141A-DF2F3615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D260C6-91C8-A1A4-100D-FFAB2C1E6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75C50E-DE4D-E33C-2A13-83D2FFC96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4D77DE-0C0C-C1D7-1F84-91C911F5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BF5BE5-2777-4127-6D8C-1A96E8F2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A15E0B-9653-DF89-FB0F-3FD8BD97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50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A014B-5291-13C9-B4A8-06656D88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E69F94-1FFC-B77B-978A-F0345DD06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8B5C0D-10B2-70CA-1BBD-006310392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377E80-4529-0A46-CDFC-95F78A199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C3B945-BF44-3351-B1E5-6464CFCC3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FA9E873-2225-54F2-FB7C-3544EC86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B0EEB5-F57D-C785-162F-EB540933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A8A1B5-CDA1-04CF-5AC9-61CD562B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96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840AE-6570-F072-696F-592212CD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F14854-5D1E-6E05-8FBD-139B041E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88FD18-39EA-84C0-EE3D-FF4213A9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BA6C10-5D11-1F44-4B7D-059E60E9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21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AF69A0D-56E9-FD67-EBA9-13E14C31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7F6D12-71BF-D3DB-31E5-C9F4EF56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AA507A-4914-0ADE-BE0B-377E5A47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F7CBD6-87B4-65E6-B69A-E4204F9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B4D16D-D2B3-3628-0D8C-37A51C453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8A31D8-35B1-4024-2B31-91F3C4C38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6BB75B-4E2C-3A8D-D5C0-31FE3663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CA3067-D7E8-1884-D64B-1C1E65B7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434B19-F7F3-FB27-5372-D7224FB6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52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A7EDA-A374-28D5-3A45-2B8C08D8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8712E98-4164-BEAB-1A1C-AD7D8A208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3F447D-D5A9-ADC8-C410-32210A098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400499-F488-8278-5688-0080EC54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3C3B99-3D8E-A884-A55B-5893463D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4B4608-A865-F79B-DFAD-37203B14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03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3931C-8552-6D5E-E0E1-5DFA5679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A7F2CA-1656-F79A-EB90-6DC02310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A553E5-5CB3-C9FF-5E6A-609B61C0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826643-D276-A09A-7ECF-C605FCE6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9A6596-A152-7AB5-EC37-B24FEF3C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91E78A-711A-59FF-049D-258CEC2D6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79E589-A48C-2E71-3939-057CBAC59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5D888B-E8AD-8DF7-1999-24DA193E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C90386-93F9-2C6F-B8B6-556322A2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4C248-210A-4B79-98F5-5412E4ED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8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58FA21C-127D-01E1-77E2-5ABA7892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24DDA8-7EF6-8A85-7393-D358A5E27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7758C3-7E2E-CD50-FD6E-FBDF610CA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55609-4F21-4BCF-A67E-F4115660F64C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9E64B8-EBA4-4F6C-D225-3050048DF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28D041-DED8-2CE8-00B2-ECA512FDA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CE918-D759-41FC-BAE6-AA8E3C355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51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fr.wikipedia.org/wiki/Liste_des_sommets_ultra-pro%C3%A9minents_d%27Am%C3%A9rique_du_Nord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posts/nicolasdaurios_croiser-des-donn%C3%A9es-dans-looker-activity-7427260556132421632-teiW?utm_source=share&amp;utm_medium=member_desktop&amp;rcm=ACoAABpSozgB05nOEIZQNv6Xoq7oHgQXMybz2N0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3341DBE-43B1-3922-CA6B-CC9055A78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9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F5D9CD0-349F-C3AC-FADD-5D7547BCBF38}"/>
              </a:ext>
            </a:extLst>
          </p:cNvPr>
          <p:cNvSpPr txBox="1"/>
          <p:nvPr/>
        </p:nvSpPr>
        <p:spPr>
          <a:xfrm>
            <a:off x="5125681" y="751344"/>
            <a:ext cx="60665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Déroulé des séances</a:t>
            </a:r>
          </a:p>
          <a:p>
            <a:endParaRPr lang="fr-FR" b="1" dirty="0"/>
          </a:p>
          <a:p>
            <a:r>
              <a:rPr lang="fr-FR" b="1" dirty="0"/>
              <a:t>3 exercices d’introduction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Cartographie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Séries temporelles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Storytelling / Dataviz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1 cas business </a:t>
            </a:r>
            <a:r>
              <a:rPr lang="fr-FR" dirty="0"/>
              <a:t>&gt;&gt;&gt; Analyse des ventes d’une entreprise</a:t>
            </a:r>
          </a:p>
          <a:p>
            <a:endParaRPr lang="fr-FR" dirty="0"/>
          </a:p>
          <a:p>
            <a:r>
              <a:rPr lang="fr-FR" b="1" dirty="0"/>
              <a:t>Méthode :</a:t>
            </a:r>
            <a:endParaRPr lang="fr-FR" dirty="0"/>
          </a:p>
          <a:p>
            <a:r>
              <a:rPr lang="fr-FR" dirty="0"/>
              <a:t>Pour chaque exercice, je vous montre le </a:t>
            </a:r>
            <a:r>
              <a:rPr lang="fr-FR" b="1" dirty="0"/>
              <a:t>résultat final </a:t>
            </a:r>
            <a:r>
              <a:rPr lang="fr-FR" dirty="0"/>
              <a:t>et on construit </a:t>
            </a:r>
            <a:r>
              <a:rPr lang="fr-FR" b="1" dirty="0"/>
              <a:t>ensemble</a:t>
            </a:r>
            <a:r>
              <a:rPr lang="fr-FR" dirty="0"/>
              <a:t> le chemin pour y arriver comme du « reverse engineering »</a:t>
            </a:r>
          </a:p>
          <a:p>
            <a:endParaRPr lang="fr-FR" dirty="0"/>
          </a:p>
          <a:p>
            <a:r>
              <a:rPr lang="fr-FR" dirty="0"/>
              <a:t>En BI, le plus important n’est pas </a:t>
            </a:r>
            <a:r>
              <a:rPr lang="fr-FR" b="1" dirty="0"/>
              <a:t>le graphique final</a:t>
            </a:r>
            <a:r>
              <a:rPr lang="fr-FR" dirty="0"/>
              <a:t>, mais le </a:t>
            </a:r>
            <a:r>
              <a:rPr lang="fr-FR" b="1" dirty="0"/>
              <a:t>chemin logique</a:t>
            </a:r>
            <a:r>
              <a:rPr lang="fr-FR" dirty="0"/>
              <a:t> qui permet de le produire et de répondre au cas d’usage/problématique métier.</a:t>
            </a:r>
            <a:br>
              <a:rPr lang="fr-FR" dirty="0"/>
            </a:br>
            <a:endParaRPr lang="fr-FR" dirty="0"/>
          </a:p>
          <a:p>
            <a:endParaRPr lang="fr-FR" dirty="0"/>
          </a:p>
        </p:txBody>
      </p:sp>
      <p:pic>
        <p:nvPicPr>
          <p:cNvPr id="2050" name="Picture 2" descr="984 200+ Comprendre Stock Illustrations, graphiques vectoriels libre de  droits et Clip Art - iStock | Compréhension, Question, Loupe">
            <a:extLst>
              <a:ext uri="{FF2B5EF4-FFF2-40B4-BE49-F238E27FC236}">
                <a16:creationId xmlns:a16="http://schemas.microsoft.com/office/drawing/2014/main" id="{667DAFE5-02C6-0679-E47B-E3179CB44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" y="1589446"/>
            <a:ext cx="3679108" cy="367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07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675C746-2C45-4C4E-0A24-E4B0297949A5}"/>
              </a:ext>
            </a:extLst>
          </p:cNvPr>
          <p:cNvSpPr txBox="1"/>
          <p:nvPr/>
        </p:nvSpPr>
        <p:spPr>
          <a:xfrm>
            <a:off x="265471" y="304800"/>
            <a:ext cx="1161189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LOOKER STUDIO</a:t>
            </a:r>
            <a:endParaRPr lang="fr-FR" b="1" dirty="0"/>
          </a:p>
          <a:p>
            <a:endParaRPr lang="fr-FR" sz="3200" b="1" dirty="0"/>
          </a:p>
          <a:p>
            <a:r>
              <a:rPr lang="fr-FR" b="1" dirty="0"/>
              <a:t>Présentation de Google Cloud Platform (GCP)</a:t>
            </a:r>
            <a:endParaRPr lang="fr-FR" dirty="0"/>
          </a:p>
          <a:p>
            <a:r>
              <a:rPr lang="fr-FR" dirty="0"/>
              <a:t>Plateforme cloud de Google pour le stockage, le traitement et l’analyse de données</a:t>
            </a:r>
          </a:p>
          <a:p>
            <a:r>
              <a:rPr lang="fr-FR" dirty="0"/>
              <a:t>Dans la majorité des cas, Looker est connecté à des bases de données analytiques (ex : </a:t>
            </a:r>
            <a:r>
              <a:rPr lang="fr-FR" b="1" dirty="0"/>
              <a:t>BigQuery</a:t>
            </a:r>
            <a:r>
              <a:rPr lang="fr-FR" dirty="0"/>
              <a:t>)</a:t>
            </a:r>
          </a:p>
          <a:p>
            <a:r>
              <a:rPr lang="fr-FR" dirty="0"/>
              <a:t>Dans un contexte professionnel, on travaille généralement avec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Des tables préparées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Des vues métiers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Une couche data déjà structurée</a:t>
            </a:r>
          </a:p>
          <a:p>
            <a:br>
              <a:rPr lang="fr-FR" dirty="0"/>
            </a:br>
            <a:r>
              <a:rPr lang="fr-FR" b="1" dirty="0"/>
              <a:t>Pour cette session : </a:t>
            </a:r>
            <a:r>
              <a:rPr lang="fr-FR" dirty="0"/>
              <a:t> Travail à partir de </a:t>
            </a:r>
            <a:r>
              <a:rPr lang="fr-FR" b="1" dirty="0"/>
              <a:t>Google Drive (CSV / Google Sheets)</a:t>
            </a:r>
            <a:endParaRPr lang="fr-FR" dirty="0"/>
          </a:p>
          <a:p>
            <a:r>
              <a:rPr lang="fr-FR" b="1" dirty="0"/>
              <a:t>Pourquoi ?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Simplicité de mise en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Focus sur la </a:t>
            </a:r>
            <a:r>
              <a:rPr lang="fr-FR" b="1" dirty="0"/>
              <a:t>BI et la visualisation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Pas sur l’ingénierie data / SQL /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Nous allons utiliser </a:t>
            </a:r>
            <a:r>
              <a:rPr lang="fr-FR" b="1" dirty="0"/>
              <a:t>Looker en “mode dégradé volontaire”</a:t>
            </a:r>
            <a:r>
              <a:rPr lang="fr-FR" dirty="0"/>
              <a:t>.</a:t>
            </a:r>
          </a:p>
          <a:p>
            <a:r>
              <a:rPr lang="fr-FR" b="1" dirty="0"/>
              <a:t>Objectif : c</a:t>
            </a:r>
            <a:r>
              <a:rPr lang="fr-FR" dirty="0"/>
              <a:t>omprendre es </a:t>
            </a:r>
            <a:r>
              <a:rPr lang="fr-FR" b="1" dirty="0"/>
              <a:t>forces</a:t>
            </a:r>
            <a:r>
              <a:rPr lang="fr-FR" dirty="0"/>
              <a:t> et les </a:t>
            </a:r>
            <a:r>
              <a:rPr lang="fr-FR" b="1" dirty="0"/>
              <a:t>limites</a:t>
            </a:r>
            <a:r>
              <a:rPr lang="fr-FR" dirty="0"/>
              <a:t> de l’outil</a:t>
            </a:r>
          </a:p>
          <a:p>
            <a:endParaRPr lang="fr-FR" dirty="0"/>
          </a:p>
          <a:p>
            <a:r>
              <a:rPr lang="fr-FR" dirty="0"/>
              <a:t>Et surtout : Voir ce qui se passe quand l’outil BI doit compenser une source de données simple ou peu structurée</a:t>
            </a:r>
          </a:p>
        </p:txBody>
      </p:sp>
    </p:spTree>
    <p:extLst>
      <p:ext uri="{BB962C8B-B14F-4D97-AF65-F5344CB8AC3E}">
        <p14:creationId xmlns:p14="http://schemas.microsoft.com/office/powerpoint/2010/main" val="2980405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09824C3-79D5-2F7A-DD72-198EBD9B6E71}"/>
              </a:ext>
            </a:extLst>
          </p:cNvPr>
          <p:cNvSpPr txBox="1"/>
          <p:nvPr/>
        </p:nvSpPr>
        <p:spPr>
          <a:xfrm>
            <a:off x="206477" y="265471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1 : Cartographie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D1A4AB2-6D73-65E0-50F3-6959EEB5A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3" y="794451"/>
            <a:ext cx="9812594" cy="52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6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70ABC1-C31D-D2D6-A288-D839A96A3339}"/>
              </a:ext>
            </a:extLst>
          </p:cNvPr>
          <p:cNvSpPr txBox="1"/>
          <p:nvPr/>
        </p:nvSpPr>
        <p:spPr>
          <a:xfrm>
            <a:off x="255637" y="275304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2 : Série temporelle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43E1144-5AA2-5A85-EF15-C8863F00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64" y="1363918"/>
            <a:ext cx="10019071" cy="413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1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2F125B5-0D87-7690-AE74-620D760CACCB}"/>
              </a:ext>
            </a:extLst>
          </p:cNvPr>
          <p:cNvSpPr txBox="1"/>
          <p:nvPr/>
        </p:nvSpPr>
        <p:spPr>
          <a:xfrm>
            <a:off x="255638" y="245808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3 : Storytelling et perception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641DDD-8FEA-6846-DD60-0C4563ED9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" y="901015"/>
            <a:ext cx="3993225" cy="27891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2835708-7C6F-02DF-4B27-2FACF7172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714" y="3429000"/>
            <a:ext cx="7943137" cy="3165254"/>
          </a:xfrm>
          <a:prstGeom prst="rect">
            <a:avLst/>
          </a:prstGeom>
        </p:spPr>
      </p:pic>
      <p:sp>
        <p:nvSpPr>
          <p:cNvPr id="7" name="Flèche : virage 6">
            <a:extLst>
              <a:ext uri="{FF2B5EF4-FFF2-40B4-BE49-F238E27FC236}">
                <a16:creationId xmlns:a16="http://schemas.microsoft.com/office/drawing/2014/main" id="{3D38A30A-94C8-4D72-5AA7-0A3214E7AC12}"/>
              </a:ext>
            </a:extLst>
          </p:cNvPr>
          <p:cNvSpPr/>
          <p:nvPr/>
        </p:nvSpPr>
        <p:spPr>
          <a:xfrm rot="5400000">
            <a:off x="4624233" y="2249735"/>
            <a:ext cx="859093" cy="884903"/>
          </a:xfrm>
          <a:prstGeom prst="ben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1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6C67BAE-6DD5-B008-CC57-D0C6AD07DA04}"/>
              </a:ext>
            </a:extLst>
          </p:cNvPr>
          <p:cNvSpPr txBox="1"/>
          <p:nvPr/>
        </p:nvSpPr>
        <p:spPr>
          <a:xfrm>
            <a:off x="294968" y="236931"/>
            <a:ext cx="116610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Cas Business : </a:t>
            </a:r>
            <a:r>
              <a:rPr lang="fr-FR" dirty="0"/>
              <a:t>Une entreprise dispose de </a:t>
            </a:r>
            <a:r>
              <a:rPr lang="fr-FR" b="1" dirty="0"/>
              <a:t>plusieurs points de vente</a:t>
            </a:r>
            <a:r>
              <a:rPr lang="fr-FR" dirty="0"/>
              <a:t> et vend des produits de randonnée / voyage.</a:t>
            </a:r>
          </a:p>
          <a:p>
            <a:br>
              <a:rPr lang="fr-FR" dirty="0"/>
            </a:br>
            <a:r>
              <a:rPr lang="fr-FR" dirty="0"/>
              <a:t>Vous disposez de </a:t>
            </a:r>
            <a:r>
              <a:rPr lang="fr-FR" b="1" dirty="0"/>
              <a:t>4 tables de données</a:t>
            </a:r>
            <a:r>
              <a:rPr lang="fr-FR" dirty="0"/>
              <a:t> : </a:t>
            </a:r>
            <a:r>
              <a:rPr lang="fr-FR" b="1" dirty="0"/>
              <a:t>Ventes 2025</a:t>
            </a:r>
            <a:r>
              <a:rPr lang="fr-FR" dirty="0"/>
              <a:t> (table de faits), </a:t>
            </a:r>
            <a:r>
              <a:rPr lang="fr-FR" b="1" dirty="0"/>
              <a:t>Magasins</a:t>
            </a:r>
            <a:r>
              <a:rPr lang="fr-FR" dirty="0"/>
              <a:t>, </a:t>
            </a:r>
            <a:r>
              <a:rPr lang="fr-FR" b="1" dirty="0"/>
              <a:t>Clients</a:t>
            </a:r>
            <a:r>
              <a:rPr lang="fr-FR" dirty="0"/>
              <a:t>, </a:t>
            </a:r>
            <a:r>
              <a:rPr lang="fr-FR" b="1" dirty="0"/>
              <a:t>Produits vendus</a:t>
            </a:r>
            <a:endParaRPr lang="fr-FR" dirty="0"/>
          </a:p>
          <a:p>
            <a:r>
              <a:rPr lang="fr-FR" dirty="0"/>
              <a:t>L’objectif est de construire un outil de reporting permettant d’analyser l’activité commerciale et le comportement des clients.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1. Analyse du chiffre d’affaires et des ventes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Chiffre d’affaires : global et par point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Volume de ventes par magasin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des ventes par marque et par type de produit (catégorie)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2. Analyse des paniers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Panier moyen global et par point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Distribution des paniers </a:t>
            </a:r>
          </a:p>
          <a:p>
            <a:endParaRPr lang="fr-FR" dirty="0"/>
          </a:p>
          <a:p>
            <a:r>
              <a:rPr lang="fr-FR" b="1" dirty="0"/>
              <a:t>3. Analyse des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Âge moyen des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Provenance géographique (département / zone)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par genre (H / 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078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F5D787A-663E-42B8-B169-812BF6F5084A}"/>
              </a:ext>
            </a:extLst>
          </p:cNvPr>
          <p:cNvSpPr txBox="1"/>
          <p:nvPr/>
        </p:nvSpPr>
        <p:spPr>
          <a:xfrm>
            <a:off x="285135" y="286092"/>
            <a:ext cx="1158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Cas d’usage métier : mailing ciblé</a:t>
            </a:r>
          </a:p>
          <a:p>
            <a:endParaRPr lang="fr-FR" b="1" dirty="0"/>
          </a:p>
          <a:p>
            <a:r>
              <a:rPr lang="fr-FR" b="1" dirty="0"/>
              <a:t>Objectif</a:t>
            </a:r>
            <a:r>
              <a:rPr lang="fr-FR" dirty="0"/>
              <a:t> : identifier des segments de clients pour mener des campagnes marketing ciblées.</a:t>
            </a:r>
          </a:p>
          <a:p>
            <a:endParaRPr lang="fr-FR" dirty="0"/>
          </a:p>
          <a:p>
            <a:r>
              <a:rPr lang="fr-FR" dirty="0"/>
              <a:t>Exemples de critères possibles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à fort panier moyen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selon la localisation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selon le type de produits achetés</a:t>
            </a:r>
          </a:p>
          <a:p>
            <a:endParaRPr lang="fr-FR" dirty="0"/>
          </a:p>
          <a:p>
            <a:r>
              <a:rPr lang="fr-FR" b="1" dirty="0"/>
              <a:t>Attendu :</a:t>
            </a:r>
          </a:p>
          <a:p>
            <a:r>
              <a:rPr lang="fr-FR" dirty="0"/>
              <a:t>Une page/outil permettant de filtrer, segmenter, extraire des populations de clients cibles</a:t>
            </a:r>
          </a:p>
        </p:txBody>
      </p:sp>
    </p:spTree>
    <p:extLst>
      <p:ext uri="{BB962C8B-B14F-4D97-AF65-F5344CB8AC3E}">
        <p14:creationId xmlns:p14="http://schemas.microsoft.com/office/powerpoint/2010/main" val="135040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8830F44-F5E1-850E-C7E1-A02E5E504AF4}"/>
              </a:ext>
            </a:extLst>
          </p:cNvPr>
          <p:cNvSpPr txBox="1"/>
          <p:nvPr/>
        </p:nvSpPr>
        <p:spPr>
          <a:xfrm>
            <a:off x="290051" y="397401"/>
            <a:ext cx="1161189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POWER BI</a:t>
            </a:r>
            <a:br>
              <a:rPr lang="fr-FR" sz="3200" b="1" dirty="0"/>
            </a:br>
            <a:endParaRPr lang="fr-FR" b="1" dirty="0"/>
          </a:p>
          <a:p>
            <a:r>
              <a:rPr lang="fr-FR" dirty="0"/>
              <a:t>Power BI est conçu pour travailler via de multiples connecteurs natifs avec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Des bases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Des fichiers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Des sources multiples et hétérogènes</a:t>
            </a:r>
          </a:p>
          <a:p>
            <a:endParaRPr lang="fr-FR" dirty="0"/>
          </a:p>
          <a:p>
            <a:r>
              <a:rPr lang="fr-FR" dirty="0"/>
              <a:t>Dans Power BI, le </a:t>
            </a:r>
            <a:r>
              <a:rPr lang="fr-FR" b="1" dirty="0"/>
              <a:t>modèle sémantique</a:t>
            </a:r>
            <a:r>
              <a:rPr lang="fr-FR" dirty="0"/>
              <a:t> est  l’</a:t>
            </a:r>
            <a:r>
              <a:rPr lang="fr-FR" b="1" dirty="0"/>
              <a:t>actif central</a:t>
            </a:r>
            <a:r>
              <a:rPr lang="fr-FR" dirty="0"/>
              <a:t> du projet. Concrètement :</a:t>
            </a:r>
          </a:p>
          <a:p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On importe plusieurs tables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On définit les relations, les cardinalités, le sens de filtrage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On crée des </a:t>
            </a:r>
            <a:r>
              <a:rPr lang="fr-FR" b="1" dirty="0"/>
              <a:t>mesures</a:t>
            </a:r>
            <a:r>
              <a:rPr lang="fr-FR" dirty="0"/>
              <a:t> (DAX) réutilisables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On construit les visuels</a:t>
            </a:r>
          </a:p>
          <a:p>
            <a:endParaRPr lang="fr-FR" dirty="0"/>
          </a:p>
          <a:p>
            <a:r>
              <a:rPr lang="fr-FR" b="1" dirty="0"/>
              <a:t>Note pratique &gt;&gt;&gt; Important : Cartes dans Power BI</a:t>
            </a:r>
            <a:endParaRPr lang="fr-FR" dirty="0"/>
          </a:p>
          <a:p>
            <a:r>
              <a:rPr lang="fr-FR" dirty="0"/>
              <a:t>Vérifier l’activation des visuels de carte dans :</a:t>
            </a:r>
            <a:br>
              <a:rPr lang="fr-FR" dirty="0"/>
            </a:br>
            <a:r>
              <a:rPr lang="fr-FR" dirty="0"/>
              <a:t>Fichier &gt; Options et paramètres &gt; Options &gt; Sécurité &gt; Autoriser l’utilisation des visuels de carte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17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23B8A70-28BD-4135-7A2C-2B64775736AA}"/>
              </a:ext>
            </a:extLst>
          </p:cNvPr>
          <p:cNvSpPr txBox="1"/>
          <p:nvPr/>
        </p:nvSpPr>
        <p:spPr>
          <a:xfrm>
            <a:off x="255637" y="245806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1 : Cartographie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5B4F91-F5FF-0474-7287-580949E5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" y="629298"/>
            <a:ext cx="10166555" cy="559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0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289DECF-0538-D345-B03A-E9BFDE6E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76" y="1240928"/>
            <a:ext cx="10382298" cy="437614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70600BB-F7EF-BC25-6338-87CC2118C8CC}"/>
              </a:ext>
            </a:extLst>
          </p:cNvPr>
          <p:cNvSpPr txBox="1"/>
          <p:nvPr/>
        </p:nvSpPr>
        <p:spPr>
          <a:xfrm>
            <a:off x="255637" y="275304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2 : Série temporelle</a:t>
            </a:r>
          </a:p>
        </p:txBody>
      </p:sp>
    </p:spTree>
    <p:extLst>
      <p:ext uri="{BB962C8B-B14F-4D97-AF65-F5344CB8AC3E}">
        <p14:creationId xmlns:p14="http://schemas.microsoft.com/office/powerpoint/2010/main" val="31832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74F6E0F-AD28-1E7B-9897-9104B18D068F}"/>
              </a:ext>
            </a:extLst>
          </p:cNvPr>
          <p:cNvSpPr txBox="1"/>
          <p:nvPr/>
        </p:nvSpPr>
        <p:spPr>
          <a:xfrm>
            <a:off x="255638" y="245808"/>
            <a:ext cx="116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3 : Storytelling et perception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4F0877-2428-4224-512F-05E9088A7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35" y="1260123"/>
            <a:ext cx="10656330" cy="433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6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ED2BC7E-913A-6EF3-B3F2-310E9D961D87}"/>
              </a:ext>
            </a:extLst>
          </p:cNvPr>
          <p:cNvSpPr txBox="1"/>
          <p:nvPr/>
        </p:nvSpPr>
        <p:spPr>
          <a:xfrm>
            <a:off x="255638" y="245808"/>
            <a:ext cx="11680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bonus : Créer la carte des 10 plus hauts sommets des USA</a:t>
            </a:r>
          </a:p>
          <a:p>
            <a:endParaRPr lang="fr-FR" b="1" dirty="0"/>
          </a:p>
          <a:p>
            <a:r>
              <a:rPr lang="fr-FR" b="1" dirty="0"/>
              <a:t>👉 </a:t>
            </a:r>
            <a:r>
              <a:rPr lang="fr-FR" dirty="0">
                <a:hlinkClick r:id="rId2"/>
              </a:rPr>
              <a:t>https://fr.wikipedia.org/wiki/Liste_des_sommets_ultra-pro%C3%A9minents_d%27Am%C3%A9rique_du_Nord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470609-4179-6A51-5681-EB9E02F84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02" y="1449595"/>
            <a:ext cx="9674395" cy="49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92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BB03DE0-2B7C-65DB-0082-0745D5188025}"/>
              </a:ext>
            </a:extLst>
          </p:cNvPr>
          <p:cNvSpPr txBox="1"/>
          <p:nvPr/>
        </p:nvSpPr>
        <p:spPr>
          <a:xfrm>
            <a:off x="255638" y="176983"/>
            <a:ext cx="1168072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Cas Business : </a:t>
            </a:r>
            <a:r>
              <a:rPr lang="fr-FR" dirty="0"/>
              <a:t>Une entreprise dispose de </a:t>
            </a:r>
            <a:r>
              <a:rPr lang="fr-FR" b="1" dirty="0"/>
              <a:t>plusieurs points de vente</a:t>
            </a:r>
            <a:r>
              <a:rPr lang="fr-FR" dirty="0"/>
              <a:t> et vend des produits de randonnée / voyage.</a:t>
            </a:r>
          </a:p>
          <a:p>
            <a:br>
              <a:rPr lang="fr-FR" dirty="0"/>
            </a:br>
            <a:r>
              <a:rPr lang="fr-FR" dirty="0"/>
              <a:t>Vous disposez de </a:t>
            </a:r>
            <a:r>
              <a:rPr lang="fr-FR" b="1" dirty="0"/>
              <a:t>4 tables de données</a:t>
            </a:r>
            <a:r>
              <a:rPr lang="fr-FR" dirty="0"/>
              <a:t> : </a:t>
            </a:r>
            <a:r>
              <a:rPr lang="fr-FR" b="1" dirty="0"/>
              <a:t>Ventes 2025</a:t>
            </a:r>
            <a:r>
              <a:rPr lang="fr-FR" dirty="0"/>
              <a:t> (table de faits), </a:t>
            </a:r>
            <a:r>
              <a:rPr lang="fr-FR" b="1" dirty="0"/>
              <a:t>Magasins</a:t>
            </a:r>
            <a:r>
              <a:rPr lang="fr-FR" dirty="0"/>
              <a:t>, </a:t>
            </a:r>
            <a:r>
              <a:rPr lang="fr-FR" b="1" dirty="0"/>
              <a:t>Clients</a:t>
            </a:r>
            <a:r>
              <a:rPr lang="fr-FR" dirty="0"/>
              <a:t>, </a:t>
            </a:r>
            <a:r>
              <a:rPr lang="fr-FR" b="1" dirty="0"/>
              <a:t>Produits vendus</a:t>
            </a:r>
            <a:endParaRPr lang="fr-FR" dirty="0"/>
          </a:p>
          <a:p>
            <a:r>
              <a:rPr lang="fr-FR" dirty="0"/>
              <a:t>L’objectif est de construire un outil de reporting permettant d’analyser l’activité commerciale et le comportement des clients.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1. Analyse du chiffre d’affaires et des ventes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Chiffre d’affaires : global et par point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Volume de ventes par magasin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des ventes par marque et par type de produit (catégorie)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2. Analyse des paniers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Panier moyen global et par point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Distribution des paniers </a:t>
            </a:r>
          </a:p>
          <a:p>
            <a:endParaRPr lang="fr-FR" dirty="0"/>
          </a:p>
          <a:p>
            <a:r>
              <a:rPr lang="fr-FR" b="1" dirty="0"/>
              <a:t>3. Analyse des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Âge moyen des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Provenance géographique (département / zone)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par genre (H / 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508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169B7F1-328F-0344-FAEE-D7FE8F5D263C}"/>
              </a:ext>
            </a:extLst>
          </p:cNvPr>
          <p:cNvSpPr txBox="1"/>
          <p:nvPr/>
        </p:nvSpPr>
        <p:spPr>
          <a:xfrm>
            <a:off x="275303" y="164209"/>
            <a:ext cx="11631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4. Analyse temporelle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Répartition du chiffre d’affaires par mois et par point de vente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Chiffre d’affaires par marque et par mois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5. Cas d’usage métier : mailing ciblé</a:t>
            </a:r>
          </a:p>
          <a:p>
            <a:endParaRPr lang="fr-FR" b="1" dirty="0"/>
          </a:p>
          <a:p>
            <a:r>
              <a:rPr lang="fr-FR" b="1" dirty="0"/>
              <a:t>Objectif</a:t>
            </a:r>
            <a:r>
              <a:rPr lang="fr-FR" dirty="0"/>
              <a:t> : identifier des segments de clients pour mener des campagnes marketing ciblées.</a:t>
            </a:r>
          </a:p>
          <a:p>
            <a:endParaRPr lang="fr-FR" dirty="0"/>
          </a:p>
          <a:p>
            <a:r>
              <a:rPr lang="fr-FR" dirty="0"/>
              <a:t>Exemples de critères possibles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à fort panier moyen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selon la localisation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selon le type de produits achetés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Clients selon la fréquence</a:t>
            </a:r>
          </a:p>
          <a:p>
            <a:endParaRPr lang="fr-FR" dirty="0"/>
          </a:p>
          <a:p>
            <a:r>
              <a:rPr lang="fr-FR" b="1" dirty="0"/>
              <a:t>Attendu :</a:t>
            </a:r>
          </a:p>
          <a:p>
            <a:r>
              <a:rPr lang="fr-FR" dirty="0"/>
              <a:t>Une page/outil permettant de filtrer, segmenter, extraire des populations de clients cibles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5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F76F52F-156C-0BB0-4842-A5EE1307F08F}"/>
              </a:ext>
            </a:extLst>
          </p:cNvPr>
          <p:cNvSpPr txBox="1"/>
          <p:nvPr/>
        </p:nvSpPr>
        <p:spPr>
          <a:xfrm>
            <a:off x="235973" y="136065"/>
            <a:ext cx="1176921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Quelques règles qui doivent devenir des réflexes!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dirty="0"/>
              <a:t>Ces règles ne rendent pas un dashboard esthétique, elles le rendent </a:t>
            </a:r>
            <a:r>
              <a:rPr lang="fr-FR" b="1" dirty="0"/>
              <a:t>fiable, maintenable et compréhensible</a:t>
            </a:r>
            <a:r>
              <a:rPr lang="fr-FR" dirty="0"/>
              <a:t>.</a:t>
            </a:r>
            <a:endParaRPr lang="fr-FR" b="1" dirty="0"/>
          </a:p>
          <a:p>
            <a:pPr>
              <a:buNone/>
            </a:pPr>
            <a:endParaRPr lang="fr-FR" b="1" dirty="0"/>
          </a:p>
          <a:p>
            <a:r>
              <a:rPr lang="fr-FR" dirty="0"/>
              <a:t>🗓️ </a:t>
            </a:r>
            <a:r>
              <a:rPr lang="fr-FR" b="1" dirty="0"/>
              <a:t>Table de dates obligatoire</a:t>
            </a:r>
            <a:br>
              <a:rPr lang="fr-FR" dirty="0"/>
            </a:br>
            <a:r>
              <a:rPr lang="fr-FR" dirty="0"/>
              <a:t>Dès qu’un dataset contient des dates &gt;&gt;&gt; on crée une table de dates (via BRAVO ou en DAX)</a:t>
            </a:r>
          </a:p>
          <a:p>
            <a:endParaRPr lang="fr-FR" dirty="0"/>
          </a:p>
          <a:p>
            <a:r>
              <a:rPr lang="fr-FR" b="1" dirty="0"/>
              <a:t>📝 Mesures préfixées par </a:t>
            </a:r>
            <a:r>
              <a:rPr lang="fr-FR" b="1" dirty="0">
                <a:latin typeface="Courier New" panose="02070309020205020404" pitchFamily="49" charset="0"/>
              </a:rPr>
              <a:t>_</a:t>
            </a:r>
            <a:br>
              <a:rPr lang="fr-FR" dirty="0"/>
            </a:br>
            <a:r>
              <a:rPr lang="fr-FR" dirty="0"/>
              <a:t>Pour distinguer clairement mesures et colonnes.</a:t>
            </a:r>
          </a:p>
          <a:p>
            <a:endParaRPr lang="fr-FR" dirty="0"/>
          </a:p>
          <a:p>
            <a:r>
              <a:rPr lang="fr-FR" dirty="0"/>
              <a:t>🔎 </a:t>
            </a:r>
            <a:r>
              <a:rPr lang="fr-FR" b="1" dirty="0"/>
              <a:t>Bien typer les données</a:t>
            </a:r>
            <a:br>
              <a:rPr lang="fr-FR" dirty="0"/>
            </a:br>
            <a:r>
              <a:rPr lang="fr-FR" dirty="0"/>
              <a:t>Dates, nombres, géo, textes… un mauvais type = un mauvais modèle.</a:t>
            </a:r>
          </a:p>
          <a:p>
            <a:endParaRPr lang="fr-FR" b="1" dirty="0"/>
          </a:p>
          <a:p>
            <a:r>
              <a:rPr lang="fr-FR" b="1" dirty="0"/>
              <a:t>⭐ Modèle en étoile</a:t>
            </a:r>
            <a:br>
              <a:rPr lang="fr-FR" dirty="0"/>
            </a:br>
            <a:r>
              <a:rPr lang="fr-FR" dirty="0"/>
              <a:t>Une table de faits, des dimensions autour, des relations propres.</a:t>
            </a:r>
          </a:p>
          <a:p>
            <a:endParaRPr lang="fr-FR" dirty="0"/>
          </a:p>
          <a:p>
            <a:r>
              <a:rPr lang="fr-FR" dirty="0"/>
              <a:t>📁 </a:t>
            </a:r>
            <a:r>
              <a:rPr lang="fr-FR" b="1" dirty="0"/>
              <a:t>Fichiers stables</a:t>
            </a:r>
            <a:br>
              <a:rPr lang="fr-FR" dirty="0"/>
            </a:br>
            <a:r>
              <a:rPr lang="fr-FR" dirty="0"/>
              <a:t>On choisit l’emplacement une fois. Ensuite, on n’y touche plus.</a:t>
            </a:r>
          </a:p>
          <a:p>
            <a:endParaRPr lang="fr-FR" dirty="0"/>
          </a:p>
          <a:p>
            <a:r>
              <a:rPr lang="fr-FR" dirty="0"/>
              <a:t>🏷️ </a:t>
            </a:r>
            <a:r>
              <a:rPr lang="fr-FR" b="1" dirty="0"/>
              <a:t>Noms clairs et métiers</a:t>
            </a:r>
            <a:br>
              <a:rPr lang="fr-FR" dirty="0"/>
            </a:br>
            <a:r>
              <a:rPr lang="fr-FR" dirty="0"/>
              <a:t>Le modèle doit se lire comme un vocabulaire métier! </a:t>
            </a:r>
          </a:p>
        </p:txBody>
      </p:sp>
    </p:spTree>
    <p:extLst>
      <p:ext uri="{BB962C8B-B14F-4D97-AF65-F5344CB8AC3E}">
        <p14:creationId xmlns:p14="http://schemas.microsoft.com/office/powerpoint/2010/main" val="34859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A96FFC5-8DB8-94BA-89BA-794B34D28DB9}"/>
              </a:ext>
            </a:extLst>
          </p:cNvPr>
          <p:cNvSpPr txBox="1"/>
          <p:nvPr/>
        </p:nvSpPr>
        <p:spPr>
          <a:xfrm>
            <a:off x="206477" y="275303"/>
            <a:ext cx="118085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LOOKER STUDIO</a:t>
            </a:r>
          </a:p>
          <a:p>
            <a:endParaRPr lang="fr-FR" b="1" dirty="0"/>
          </a:p>
          <a:p>
            <a:r>
              <a:rPr lang="fr-FR" dirty="0"/>
              <a:t>Looker Studio est très rapide pour visualiser et explorer, mais il repose beaucoup sur la </a:t>
            </a:r>
            <a:r>
              <a:rPr lang="fr-FR" b="1" dirty="0"/>
              <a:t>qualité de la source</a:t>
            </a:r>
            <a:r>
              <a:rPr lang="fr-FR" dirty="0"/>
              <a:t> et la </a:t>
            </a:r>
            <a:r>
              <a:rPr lang="fr-FR" b="1" dirty="0"/>
              <a:t>discipline dans les champs calculés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Les jointures dans Looker : </a:t>
            </a:r>
            <a:br>
              <a:rPr lang="fr-FR" dirty="0"/>
            </a:br>
            <a:r>
              <a:rPr lang="fr-FR" dirty="0"/>
              <a:t>Vous pouvez télécharger mon tutoriel ici : </a:t>
            </a:r>
            <a:r>
              <a:rPr lang="fr-FR" dirty="0">
                <a:hlinkClick r:id="rId2"/>
              </a:rPr>
              <a:t>les jointures dans Looker Studio</a:t>
            </a:r>
            <a:endParaRPr lang="fr-FR" dirty="0"/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45641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72B7EEE-EC55-06BF-1A5A-4985F3B574DE}"/>
              </a:ext>
            </a:extLst>
          </p:cNvPr>
          <p:cNvSpPr txBox="1"/>
          <p:nvPr/>
        </p:nvSpPr>
        <p:spPr>
          <a:xfrm>
            <a:off x="206477" y="275303"/>
            <a:ext cx="11808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POWER BI</a:t>
            </a:r>
          </a:p>
          <a:p>
            <a:endParaRPr lang="fr-FR" b="1" dirty="0"/>
          </a:p>
          <a:p>
            <a:r>
              <a:rPr lang="fr-FR" b="1" dirty="0"/>
              <a:t>La table de dates</a:t>
            </a:r>
            <a:r>
              <a:rPr lang="fr-FR" dirty="0"/>
              <a:t> (ici en DAX) + Penser à désactiver la time intelligence (options &gt; chargement des données) </a:t>
            </a:r>
            <a:r>
              <a:rPr lang="fr-FR" b="1" dirty="0"/>
              <a:t>&gt;&gt;&gt;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950E092-E6E1-E734-DD70-1C24A0CAF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1469052"/>
            <a:ext cx="7026249" cy="123454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50A095-0FDE-34CE-EA32-C1CA8D4CF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7" y="2974018"/>
            <a:ext cx="5191433" cy="3608679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56795CB8-704C-99C2-D550-358647B84F80}"/>
              </a:ext>
            </a:extLst>
          </p:cNvPr>
          <p:cNvCxnSpPr/>
          <p:nvPr/>
        </p:nvCxnSpPr>
        <p:spPr>
          <a:xfrm flipH="1">
            <a:off x="3146323" y="2625213"/>
            <a:ext cx="314632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7718835-410A-82C7-15E0-EC9C8E178510}"/>
              </a:ext>
            </a:extLst>
          </p:cNvPr>
          <p:cNvCxnSpPr/>
          <p:nvPr/>
        </p:nvCxnSpPr>
        <p:spPr>
          <a:xfrm>
            <a:off x="5240594" y="4286865"/>
            <a:ext cx="14256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20395376-A3E8-7FFE-0D64-3CD6D9EA6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271" y="3234813"/>
            <a:ext cx="1844200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99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19871AB-891D-1C25-9E6F-E2D9BE313D42}"/>
              </a:ext>
            </a:extLst>
          </p:cNvPr>
          <p:cNvSpPr txBox="1"/>
          <p:nvPr/>
        </p:nvSpPr>
        <p:spPr>
          <a:xfrm>
            <a:off x="294968" y="285135"/>
            <a:ext cx="1158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mesures calculées (DAX)</a:t>
            </a:r>
          </a:p>
          <a:p>
            <a:endParaRPr lang="fr-FR" dirty="0"/>
          </a:p>
          <a:p>
            <a:r>
              <a:rPr lang="fr-FR" dirty="0"/>
              <a:t>Exemple : le chiffre d’affaires</a:t>
            </a:r>
          </a:p>
          <a:p>
            <a:r>
              <a:rPr lang="fr-FR" dirty="0"/>
              <a:t>Dans la table « produits », 2 colonnes : prix et quantité</a:t>
            </a:r>
            <a:br>
              <a:rPr lang="fr-FR" dirty="0"/>
            </a:br>
            <a:r>
              <a:rPr lang="fr-FR" dirty="0"/>
              <a:t>Réflexe classique &gt;&gt;&gt; créer une colonne CA (prix x quantité)</a:t>
            </a:r>
          </a:p>
          <a:p>
            <a:endParaRPr lang="fr-FR" dirty="0"/>
          </a:p>
          <a:p>
            <a:r>
              <a:rPr lang="fr-FR" dirty="0"/>
              <a:t>Bon réflexe BI : créer une mesure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1A0233-5183-2678-EB29-425E6CF1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2405157"/>
            <a:ext cx="7344697" cy="102384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A31F4F9-A541-4C5C-9F47-F9DD6D4D1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68" y="3754339"/>
            <a:ext cx="6520390" cy="925816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D9157CF-38BB-5DA6-69E4-1477712FE67B}"/>
              </a:ext>
            </a:extLst>
          </p:cNvPr>
          <p:cNvCxnSpPr/>
          <p:nvPr/>
        </p:nvCxnSpPr>
        <p:spPr>
          <a:xfrm flipH="1">
            <a:off x="2989006" y="3333135"/>
            <a:ext cx="304800" cy="63909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BBCD768-E158-B371-95B5-4EC1EDAAD33F}"/>
              </a:ext>
            </a:extLst>
          </p:cNvPr>
          <p:cNvSpPr txBox="1"/>
          <p:nvPr/>
        </p:nvSpPr>
        <p:spPr>
          <a:xfrm>
            <a:off x="294968" y="5005494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ne pas alourdir le modèle, je crée une règle métier qui, ici, va calculer à la volée le chiffre d’affaires.</a:t>
            </a:r>
          </a:p>
          <a:p>
            <a:r>
              <a:rPr lang="fr-FR" b="1" dirty="0"/>
              <a:t>En BI, on ne stocke pas des résultats, on stocke des règles de calcul.</a:t>
            </a:r>
          </a:p>
          <a:p>
            <a:endParaRPr lang="fr-FR" b="1" dirty="0"/>
          </a:p>
          <a:p>
            <a:r>
              <a:rPr lang="fr-FR" dirty="0"/>
              <a:t>Ici, la fonction </a:t>
            </a:r>
            <a:r>
              <a:rPr lang="fr-FR" b="1" dirty="0"/>
              <a:t>SUMX </a:t>
            </a:r>
            <a:r>
              <a:rPr lang="fr-FR" dirty="0"/>
              <a:t>scanne chaque ligne de la table, calcule « prix × quantité » puis additionne le tout.</a:t>
            </a:r>
          </a:p>
        </p:txBody>
      </p:sp>
    </p:spTree>
    <p:extLst>
      <p:ext uri="{BB962C8B-B14F-4D97-AF65-F5344CB8AC3E}">
        <p14:creationId xmlns:p14="http://schemas.microsoft.com/office/powerpoint/2010/main" val="27942154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1145</Words>
  <Application>Microsoft Office PowerPoint</Application>
  <PresentationFormat>Grand écran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Daurios</dc:creator>
  <cp:lastModifiedBy>Nicolas Daurios</cp:lastModifiedBy>
  <cp:revision>19</cp:revision>
  <dcterms:created xsi:type="dcterms:W3CDTF">2026-02-06T20:59:33Z</dcterms:created>
  <dcterms:modified xsi:type="dcterms:W3CDTF">2026-02-21T17:17:33Z</dcterms:modified>
</cp:coreProperties>
</file>